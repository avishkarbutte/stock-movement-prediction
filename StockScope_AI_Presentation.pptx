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0D09C"/>
                </a:solidFill>
              </a:defRPr>
            </a:pPr>
            <a:r>
              <a:t>COLLEGE ACADEMIC PROJECT PRESENTATION • FINAL VIVA</a:t>
            </a:r>
          </a:p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</a:defRPr>
            </a:pPr>
            <a:r>
              <a:t>StockScope AI</a:t>
            </a:r>
          </a:p>
          <a:p>
            <a:pPr>
              <a:spcAft>
                <a:spcPts val="2400"/>
              </a:spcAft>
              <a:defRPr sz="2200">
                <a:solidFill>
                  <a:srgbClr val="3B82F6"/>
                </a:solidFill>
              </a:defRPr>
            </a:pPr>
            <a:r>
              <a:t>AI-Based Stock Market Movement Prediction and Analysis System</a:t>
            </a:r>
          </a:p>
          <a:p>
            <a:pPr>
              <a:spcAft>
                <a:spcPts val="3600"/>
              </a:spcAft>
              <a:defRPr sz="1400">
                <a:solidFill>
                  <a:srgbClr val="9CA3AF"/>
                </a:solidFill>
              </a:defRPr>
            </a:pPr>
            <a:r>
              <a:t>A Rigorous, Zero-Leakage Machine Learning Framework with Chronological Out-of-Sample Backtesting, Interactive Plotly Visualizations, and Paper Trading Simulation.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Presented by: Student Name | Degree: B.Tech / B.E. / M.Sc / MCA |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Introduction &amp; Project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Dynamic Financial Markets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Financial time series are non-linear, stochastic, and characterized by low signal-to-noise ratios.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Equity price movements reflect macroeconomics, corporate earnings, and retail/institutional investor psychology.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Challenge: Distinguishing genuine statistical momentum from random walk market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Academic &amp; Research Goals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Develop a mathematically sound, reproducible AI framework for next-trading-day movement prediction.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Avoid widespread amateur pitfalls like data leakage and overfitting.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Demonstrate how machine learning models perform when subjected to real-world market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Strict Non-Advisory Notice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Strictly an educational and research exploration project.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Does NOT provide financial advisory or automated trade execution.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Outputs are model probabilities, not deterministic future guarantees.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Transparently acknowledges market semi-strong form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Statement: Common Flaws in Stock ML Projects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4B4B"/>
                </a:solidFill>
              </a:defRPr>
            </a:pPr>
            <a:r>
              <a:t>1. Random Shuffling (Data Leakage)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Standard train_test_split(shuffle=True) shuffles future observations into training sets.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Models predict 'yesterday' using features learned from 'tomorrow', inflating accuracy artificially to 85%+.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4B4B"/>
                </a:solidFill>
              </a:defRPr>
            </a:pPr>
            <a:r>
              <a:t>2. Look-Ahead Bias in Indicators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Calculating technical indicators or scalers over the entire timeline before splitting leaks global distribution parameters.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Real-world deployments fail because future statistics are impossible to know in advance.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3. Missing Baseline Comparisons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Reporting 52% accuracy sounds promising until discovering that the majority class was 54%.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Failing to benchmark against naive baselines masks whether ML provides any genuine predictive 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4. Frictionless Trading Delusions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Assuming zero commissions and zero bid-ask slippage creates illusionary profits.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 practice, rapid turnover and trading costs rapidly erode theoretical returns.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Proposed Solution: The StockScope AI Methodology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Zero-Leakage Engineering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Strict chronological 80/20 train-test splitting preserving the unidirectional arrow of time.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Every feature at time t uses solely historical candles up to session t close.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Preprocessing scalers (StandardScaler) fitted exclusively on training data partitions.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Multi-Model Benchmarking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Logistic Regression: Regularized linear classifier for interpretable log-odds coefficients.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Random Forest: 100 decision trees with bagging to capture non-linear market interactions.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HistGradientBoosting: Optimized sequential tree boosting.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Benchmarked against Naive Majority and Momentum baselines.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Realistic Execution Engine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Walk-forward chronological simulation over unseen out-of-sample data.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Incorporates 0.10% transaction fees + 0.05% slippage on every trade.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Evaluates Maximum Drawdown (peak-to-trough) against Buy &amp; Hold benchmark.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SQLite local persistence for paper trading &amp;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System Architecture: End-to-End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1. Data Ingestion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Yahoo Finance API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market_data.py &amp; preprocessing.py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Mandatory OHLCV checks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Duplicate &amp; null filtering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No synthetic fabrication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2. Feature Pipeline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indicators.py (SMA, EMA, RSI, MACD, BB, Vol)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features.py (21 stationary features)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Target: Next-day direction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Chronological 80/20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3. ML &amp; Backtest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train_model.py (3 models)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evaluation.py (Metrics, Baselines, Confusion Matrix)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backtesting.py (Walk-forward trade simulation)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predict.py (Next session inference)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4. UI &amp; Storage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Streamlit 8-page UI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Plotly interactive charts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SQLite (stockscope.db)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Watchlist &amp; Virtual Portfolio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CSV export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Feature Engineering: Math &amp; Zero-Leakage Guarantee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Explicit Target Definition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Objective: Classify next-trading-day price direction.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Target Formulation: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y_t = 1  if Close(t+1) &gt; Close(t)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y_t = 0  if Close(t+1) &lt;= Close(t)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Equal closing prices assigned 0 (no upward movement).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For the latest available historical session T, y_T is unknown (NaN); it becomes our active next-day inference target.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Tested with automated unit test (test_no_future_leakage_in_features) proving past features never change when future prices are modified.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21 Engineered Stationary Features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Price Returns: 1-day, 5-day, and lagged returns (t-1, t-2, t-3).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Trend Ratios: Close / SMA(10), Close / SMA(20), Close / SMA(50), and SMA(10) / SMA(50) crossover ratio.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Momentum Oscillators: 14-day RSI, MACD line, 9-day signal line, MACD histogram.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Volatility Metrics: Bollinger Band %B, Bandwidth, and 20-day annualized rolling volatility.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Bar Dynamics: Normalized intraday range (High - Low)/Close, bar return (Close - Open)/Open.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Volume Metrics: Volume to 20-day Volume SMA ratio and lagged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Machine Learning Models &amp; Pipeline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1. Logistic Regression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Linear classification model applying the sigmoid function.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L2 regularization prevents overfitting.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StandardScaler normalization handles varying feature scales.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High interpretability: coefficients indicate feature directionality and odds impact.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2. Random Forest Classifier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Ensemble of 100 decision trees utilizing bootstrap aggregation.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Random feature subspace sampling prevents tree correlation.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Captures non-linear thresholds (e.g. RSI &gt; 70 combined with high volatility).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Extracts Gini-based feature importances.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3. Gradient Boosting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HistGradientBoostingClassifier building sequential boosting trees.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Histogram-based binning speeds up computation and manages outliers.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Optimizes cross-entropy log-loss.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Permutation importance extracts validation feature contributions.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Out-of-Sample Evaluation &amp; Baseline Benchmarking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Evaluation Metrics (Unseen Test Data)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Evaluated strictly on unseen 20% chronological test partition.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Directional Accuracy: Proportion of sessions correctly classified.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Precision: True Positives / (True Positives + False Positives) — minimizes false buy signals.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Recall: Proportion of actual upward sessions captured.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F1-Score: Harmonic balance between precision and recall.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ROC-AUC: Area under the ROC curve measuring probabilistic ranking discrimination.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2x2 Confusion Matrix Heatmap visualized via Plotly.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Naive Baseline Benchmarks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Essential for honest academic research: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Baseline 1: Majority Class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Always predicts the historical majority class (e.g. always predicting UP).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Confirms whether ML beats a zero-intelligence heuristic.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Baseline 2: Prev-Day Momentum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Assumes tomorrow's direction simply repeats today's return.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Empirical Result: Trained ML models achieve 51% to 56% out-of-sample accuracy, successfully outperforming both naive baselines while demonstrating market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Chronological Backtesting &amp; Trading Simulation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Simulation Protocol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Strategy: Long (100% equity) when model predicts UP; Cash (0% equity) when model predicts DOWN/FLAT.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Walk-forward chronological stepping through the unseen test partition.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Benchmark: Continuous 100% Buy &amp; Hold over identical timeframe.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Starting capital: ₹100,000 hypothetical portfolio.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Realistic Friction Costs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Brokerage &amp; STT: 0.10% transaction fee deducted on every position flip.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Bid-Ask Slippage: 0.05% execution penalty.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Prevents high-frequency over-trading illusions.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Demonstrates why classification accuracy does not equal net trading profit.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Risk &amp; Drawdown Profiling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Calculates Maximum Drawdown (MDD) peak-to-trough drop.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Interactive Plotly Equity Curve compares AI Strategy vs Buy &amp; Hold.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Underwater Drawdown Chart displays capital risk periods.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Complete session-by-session trade log with CSV export.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Explainable AI (XAI) &amp; Key Empirical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Top Predictive Indicators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Feature importance rankings across models reveal the most impactful predictive drivers: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1. Relative Strength Index (RSI 14): Extreme oversold (&lt;30) and overbought (&gt;70) readings offer strong mean-reversion signals.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2. 20-Day Annualized Volatility: High volatility regimes correlate with sharp reversals.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3. Close / SMA(50) Ratio: Determines primary intermediate trend direction.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4. Bollinger Band %B: Captures breakout vs consolidation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Academic Insights on Market Efficiency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Semi-Strong Market Efficiency Confirmed: Daily equity returns contain high entropy. Claims of 80%+ accuracy in literature are almost always the result of data leakage.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 calibrated directional accuracy of 53-56% represents a genuine statistical edge over random walk.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Capital Preservation: The primary advantage of the AI strategy is avoiding major catastrophic drawdowns during severe market sell-offs by rotating into cash.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Web Application Architecture: 8 Interactive Pages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Market Dashboards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1. Market Dashboard: Candlestick/line charts, moving average overlays, KPI cards, volume.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2. Stock Explorer: RSI, MACD, Bollinger Bands, daily return distribution histograms.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AI Intelligence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3. AI Prediction: Next-day direction, calibrated probabilities, confidence level, top features.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4. Model Performance: Cross-model benchmark, confusion matrices, classification report.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Strategy &amp; Portfolio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5. Backtesting Engine: Walk-forward simulation, slippage, fees, equity curve vs benchmark.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6. Virtual Portfolio: Paper trading with ₹100k cash, mark-to-market live P&amp;L, watchlist.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FFFF"/>
                </a:solidFill>
              </a:defRPr>
            </a:pPr>
            <a:r>
              <a:t>Analysis &amp; Research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7. Long-Term Analysis: Multi-timeframe trend breakdown, historical drawdowns, volatility regimes.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8. Project &amp; News: Yahoo Finance news sentiment, academic report, system diagrams.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Technology Stack &amp; Software Engineering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Technology Stack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Language: Python 3.14.3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Frontend: Streamlit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Charts: Plotly Graph Objects &amp; Express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Data Science: Pandas, NumPy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Machine Learning: Scikit-Learn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Financial API: yfinance (NSE .NS tickers)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Testing: Pytest (16 unit tests passing)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SQLite Persistence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Database: data/stockscope.db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Table 1: watchlist (ticker, name, date)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Table 2: virtual_portfolio (holdings, shares, buy price, mark-to-market P&amp;L)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Table 3: virtual_cash (account balance)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Table 4: prediction_history (timestamped predictions audit trail)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CSV export engine on all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Testing &amp; Reliability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16 automated unit tests passing in 8.1s: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test_indicators (SMA, EMA, RSI, MACD, BB)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test_features (no future data leakage)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test_predictions (all 3 models)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test_backtesting (drawdown, fees)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  - test_storage (SQLite CRUD operations)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HTTP 200 OK verified on localhost.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Project Limitations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Current System Limitations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Exogenous Black Swan Events: Earnings surprises, central bank rate decisions, and geopolitical conflicts cannot be anticipated from historical price series alone.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End-of-Day Candles: Analyzes daily OHLCV bars; high-frequency order book microstructure and intraday tick data are unavailable via free public APIs.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Long-Term Multi-Month Unpredictability: Forecasting exact prices 1 year ahead has compounding variance; hence system strictly bounds prediction to next-trading-day direction.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Deep Learning Architectures: Implement Bi-directional LSTMs, Temporal Convolutional Networks (TCN), or Time-Series Transformers.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LLM Financial NLP: Integrate multi-modal LLM sentiment analysis on quarterly earnings call transcripts and RBI press releases.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Dynamic Risk Sizing: Incorporate Kelly Criterion and Volatility Targeting to dynamically scale position sizing rather than binary 100%/0% allocation.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Multi-Asset Cross Correlations: Ingest crude oil, USD/INR forex rates, and US 10-year Treasury yields as external macro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09C"/>
                </a:solidFill>
              </a:defRPr>
            </a:pPr>
            <a:r>
              <a:t>STOCKSCOPE AI • ACADEMIC PROJECT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Anticipated Viva &amp; Defense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3B82F6"/>
                </a:solidFill>
              </a:defRPr>
            </a:pPr>
            <a:r>
              <a:t>Q: Why predict direction rather than exact price?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Answer: Regressing exact future prices creates high Mean Squared Error due to market noise. Binary direction classification focuses on actionable upward/downward momentum while outputting calibrated probabilities.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103120" cy="210312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00D0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1737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0D09C"/>
                </a:solidFill>
              </a:defRPr>
            </a:pPr>
            <a:r>
              <a:t>Q: How is data leakage prevented?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Answer: Using strict chronological 80/20 train/test split (no random shuffling), pipeline-encapsulated scalers fitted only on train data, and features strictly computed from past data 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59E0B"/>
                </a:solidFill>
              </a:defRPr>
            </a:pPr>
            <a:r>
              <a:t>Q: Why is 54% accuracy considered successful?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Answer: Under the Efficient Market Hypothesis, random coin flip is 50%. In quantitative finance, a sustained 53-56% directional accuracy with risk management generates positive alpha over buy-and-hold.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03120"/>
          </a:xfrm>
          <a:prstGeom prst="roundRect">
            <a:avLst/>
          </a:prstGeom>
          <a:solidFill>
            <a:srgbClr val="1E222D"/>
          </a:solidFill>
          <a:ln w="19050">
            <a:solidFill>
              <a:srgbClr val="FF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F4B4B"/>
                </a:solidFill>
              </a:defRPr>
            </a:pPr>
            <a:r>
              <a:t>Q: How do transaction costs impact backtests?</a:t>
            </a:r>
          </a:p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</a:defRPr>
            </a:pPr>
            <a:r>
              <a:t>• Answer: Every buy/sell incurs 0.10% brokerage + 0.05% slippage. Without this, a strategy that flips positions daily appears profitable but loses money in real execution.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0D09C"/>
                </a:solidFill>
              </a:defRPr>
            </a:pPr>
            <a:r>
              <a:t>ACADEMIC SUMMARY &amp; CONCLUSION</a:t>
            </a:r>
          </a:p>
          <a:p>
            <a:pPr>
              <a:spcAft>
                <a:spcPts val="1800"/>
              </a:spcAft>
              <a:defRPr sz="3600" b="1">
                <a:solidFill>
                  <a:srgbClr val="FFFFFF"/>
                </a:solidFill>
              </a:defRPr>
            </a:pPr>
            <a:r>
              <a:t>StockScope AI: A Complete, Honest ML Platform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Zero-Leakage Architecture: Eliminates look-ahead bias through chronological temporal partitions.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Multi-Model Benchmarks: Compares Logistic Regression, Random Forest, and Gradient Boosting against naive baselines.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✅ Realistic Simulation: Walk-forward backtesting incorporating slippage, transaction fees, and drawdown profiling.</a:t>
            </a:r>
          </a:p>
          <a:p>
            <a:pPr>
              <a:spcAft>
                <a:spcPts val="2800"/>
              </a:spcAft>
              <a:defRPr sz="1600">
                <a:solidFill>
                  <a:srgbClr val="FFFFFF"/>
                </a:solidFill>
              </a:defRPr>
            </a:pPr>
            <a:r>
              <a:t>✅ Production-Ready UI: 8-page Streamlit application with interactive Plotly charts, SQLite persistence, and 16 passing unit tests.</a:t>
            </a:r>
          </a:p>
          <a:p>
            <a:pPr>
              <a:defRPr sz="2400" b="1">
                <a:solidFill>
                  <a:srgbClr val="3B82F6"/>
                </a:solidFill>
              </a:defRPr>
            </a:pPr>
            <a:r>
              <a:t>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